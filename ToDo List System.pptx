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61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144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5C3F9088-E39E-D693-5F66-6676582A8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3B8E9EA2-994A-498F-EAC2-0F0F2E4C3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7B87B1CD-61D0-5901-A00A-73A04755F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7618-811E-4601-9A23-99B5D5C7A61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0908CBCD-7228-B0A6-31E6-B04F016B9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9C891B20-8595-DF9D-ED3D-5CABE6539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E633D-AEEA-43FF-9ED5-6ABBFD9D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7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BA76721-C073-7613-A66D-F225D3043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01554ADF-5073-E537-5E79-2775AACA9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DD9EA319-517E-3B46-482A-FD9DA975C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7618-811E-4601-9A23-99B5D5C7A61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DBC04D84-3AC4-6F05-FFFE-C39BAAFDF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AC0B0D5B-E844-F07F-EB35-8852771B8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E633D-AEEA-43FF-9ED5-6ABBFD9D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555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772883E-8F3F-24FF-009E-6923F9230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90DD5803-202C-C267-D968-B2C44647B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AD1BF90C-C888-AC7C-D70E-3E9D6F72C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7618-811E-4601-9A23-99B5D5C7A61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1104A721-3C9D-46F9-834B-A6E1FD67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719D2B8A-21EF-928B-E556-5335C626B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E633D-AEEA-43FF-9ED5-6ABBFD9D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57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35BDA55-B423-2CBC-9FD5-477C44EA0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FADFBB82-9810-2F4C-701E-11023B1224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578FB059-4960-DEBE-B85D-24C1F670E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291B00BF-BC61-38A0-0ACC-84778C317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7618-811E-4601-9A23-99B5D5C7A61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Контейнер за долния колонтитул 5">
            <a:extLst>
              <a:ext uri="{FF2B5EF4-FFF2-40B4-BE49-F238E27FC236}">
                <a16:creationId xmlns:a16="http://schemas.microsoft.com/office/drawing/2014/main" id="{D83AEB06-C98C-D07A-1ECE-C58DDAF5C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Контейнер за номер на слайда 6">
            <a:extLst>
              <a:ext uri="{FF2B5EF4-FFF2-40B4-BE49-F238E27FC236}">
                <a16:creationId xmlns:a16="http://schemas.microsoft.com/office/drawing/2014/main" id="{F3F16AA1-DC3E-7F8C-8CD8-3FE6092D6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E633D-AEEA-43FF-9ED5-6ABBFD9D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937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1FFEB4D-5A01-275F-90D8-C1300EA35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5FA5AD66-E6CF-0371-0F5A-7A13FA801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Контейнер за съдържание 3">
            <a:extLst>
              <a:ext uri="{FF2B5EF4-FFF2-40B4-BE49-F238E27FC236}">
                <a16:creationId xmlns:a16="http://schemas.microsoft.com/office/drawing/2014/main" id="{82D4D3D1-AA9E-49C8-343B-C29BD3541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5" name="Текстов контейнер 4">
            <a:extLst>
              <a:ext uri="{FF2B5EF4-FFF2-40B4-BE49-F238E27FC236}">
                <a16:creationId xmlns:a16="http://schemas.microsoft.com/office/drawing/2014/main" id="{524A0059-0AD2-B304-6DB6-45D7AC1D9D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Контейнер за съдържание 5">
            <a:extLst>
              <a:ext uri="{FF2B5EF4-FFF2-40B4-BE49-F238E27FC236}">
                <a16:creationId xmlns:a16="http://schemas.microsoft.com/office/drawing/2014/main" id="{6F6712C0-F5C8-4556-E6ED-529A20E405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7" name="Контейнер за дата 6">
            <a:extLst>
              <a:ext uri="{FF2B5EF4-FFF2-40B4-BE49-F238E27FC236}">
                <a16:creationId xmlns:a16="http://schemas.microsoft.com/office/drawing/2014/main" id="{F7BA7C05-C3D9-D48D-833B-13D0C8389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7618-811E-4601-9A23-99B5D5C7A61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Контейнер за долния колонтитул 7">
            <a:extLst>
              <a:ext uri="{FF2B5EF4-FFF2-40B4-BE49-F238E27FC236}">
                <a16:creationId xmlns:a16="http://schemas.microsoft.com/office/drawing/2014/main" id="{85506644-5DE8-870C-2A27-42ADC2CA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Контейнер за номер на слайда 8">
            <a:extLst>
              <a:ext uri="{FF2B5EF4-FFF2-40B4-BE49-F238E27FC236}">
                <a16:creationId xmlns:a16="http://schemas.microsoft.com/office/drawing/2014/main" id="{44B807B0-32FA-867C-7F27-C2D22D05F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E633D-AEEA-43FF-9ED5-6ABBFD9D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65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40309E6-EEBB-0E79-C28F-D21382253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дата 2">
            <a:extLst>
              <a:ext uri="{FF2B5EF4-FFF2-40B4-BE49-F238E27FC236}">
                <a16:creationId xmlns:a16="http://schemas.microsoft.com/office/drawing/2014/main" id="{A968AE0A-9411-6876-7E40-3E6802E52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7618-811E-4601-9A23-99B5D5C7A61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Контейнер за долния колонтитул 3">
            <a:extLst>
              <a:ext uri="{FF2B5EF4-FFF2-40B4-BE49-F238E27FC236}">
                <a16:creationId xmlns:a16="http://schemas.microsoft.com/office/drawing/2014/main" id="{3B4B4247-5A6A-7EC6-8CD0-86E36EA6D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Контейнер за номер на слайда 4">
            <a:extLst>
              <a:ext uri="{FF2B5EF4-FFF2-40B4-BE49-F238E27FC236}">
                <a16:creationId xmlns:a16="http://schemas.microsoft.com/office/drawing/2014/main" id="{6B2E1B35-F3CA-FD3C-812A-58F0BC7F4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E633D-AEEA-43FF-9ED5-6ABBFD9D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09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дата 1">
            <a:extLst>
              <a:ext uri="{FF2B5EF4-FFF2-40B4-BE49-F238E27FC236}">
                <a16:creationId xmlns:a16="http://schemas.microsoft.com/office/drawing/2014/main" id="{8ABD92BD-FE16-A886-BA34-EAA7797C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7618-811E-4601-9A23-99B5D5C7A61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Контейнер за долния колонтитул 2">
            <a:extLst>
              <a:ext uri="{FF2B5EF4-FFF2-40B4-BE49-F238E27FC236}">
                <a16:creationId xmlns:a16="http://schemas.microsoft.com/office/drawing/2014/main" id="{0BCA5E17-8D99-0972-9775-133DF81F0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Контейнер за номер на слайда 3">
            <a:extLst>
              <a:ext uri="{FF2B5EF4-FFF2-40B4-BE49-F238E27FC236}">
                <a16:creationId xmlns:a16="http://schemas.microsoft.com/office/drawing/2014/main" id="{9D09593F-AD6C-8688-EF67-5CC55B3D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E633D-AEEA-43FF-9ED5-6ABBFD9D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48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595AE49-84C1-49C4-2024-158050DC3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EA035C65-5AA3-3651-10C8-126D14AF7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Текстов контейнер 3">
            <a:extLst>
              <a:ext uri="{FF2B5EF4-FFF2-40B4-BE49-F238E27FC236}">
                <a16:creationId xmlns:a16="http://schemas.microsoft.com/office/drawing/2014/main" id="{E8E5837F-69F0-EF5F-7107-0AA9A6A30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36AD7BEC-C893-4169-7282-3141CD7A3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7618-811E-4601-9A23-99B5D5C7A61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Контейнер за долния колонтитул 5">
            <a:extLst>
              <a:ext uri="{FF2B5EF4-FFF2-40B4-BE49-F238E27FC236}">
                <a16:creationId xmlns:a16="http://schemas.microsoft.com/office/drawing/2014/main" id="{5C8A22FA-37E1-BAC8-23F8-DF5087B56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Контейнер за номер на слайда 6">
            <a:extLst>
              <a:ext uri="{FF2B5EF4-FFF2-40B4-BE49-F238E27FC236}">
                <a16:creationId xmlns:a16="http://schemas.microsoft.com/office/drawing/2014/main" id="{D1B653A8-9CAD-BAA5-FC1A-54EA407F8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E633D-AEEA-43FF-9ED5-6ABBFD9D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829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3EEABCE-0711-8347-DF29-209F2D4E5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картина 2">
            <a:extLst>
              <a:ext uri="{FF2B5EF4-FFF2-40B4-BE49-F238E27FC236}">
                <a16:creationId xmlns:a16="http://schemas.microsoft.com/office/drawing/2014/main" id="{28A80E7F-AE88-C050-E5C9-75CFF54C07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ов контейнер 3">
            <a:extLst>
              <a:ext uri="{FF2B5EF4-FFF2-40B4-BE49-F238E27FC236}">
                <a16:creationId xmlns:a16="http://schemas.microsoft.com/office/drawing/2014/main" id="{87D25318-20C8-3D7A-0176-C3D3F9B35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Контейнер за дата 4">
            <a:extLst>
              <a:ext uri="{FF2B5EF4-FFF2-40B4-BE49-F238E27FC236}">
                <a16:creationId xmlns:a16="http://schemas.microsoft.com/office/drawing/2014/main" id="{0341DD43-B200-8FFA-1CA7-CD20CAAAC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7618-811E-4601-9A23-99B5D5C7A61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Контейнер за долния колонтитул 5">
            <a:extLst>
              <a:ext uri="{FF2B5EF4-FFF2-40B4-BE49-F238E27FC236}">
                <a16:creationId xmlns:a16="http://schemas.microsoft.com/office/drawing/2014/main" id="{9ED019C2-9B38-3B70-FB00-63B23306C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Контейнер за номер на слайда 6">
            <a:extLst>
              <a:ext uri="{FF2B5EF4-FFF2-40B4-BE49-F238E27FC236}">
                <a16:creationId xmlns:a16="http://schemas.microsoft.com/office/drawing/2014/main" id="{44375233-17FF-6DCC-0B89-322DA9F4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E633D-AEEA-43FF-9ED5-6ABBFD9D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600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EB0B5E35-1BDB-3756-EB3B-A243930DC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вертикален текст 2">
            <a:extLst>
              <a:ext uri="{FF2B5EF4-FFF2-40B4-BE49-F238E27FC236}">
                <a16:creationId xmlns:a16="http://schemas.microsoft.com/office/drawing/2014/main" id="{2314E9AC-6D64-0799-3E7F-7486D98FC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888FD731-D8ED-EB52-BC46-00ABF9C23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7618-811E-4601-9A23-99B5D5C7A61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11E1BF3C-0699-2008-E5CB-A2B956D79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55F10215-F13E-8E63-3B4F-E4D413ACA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E633D-AEEA-43FF-9ED5-6ABBFD9D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38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>
            <a:extLst>
              <a:ext uri="{FF2B5EF4-FFF2-40B4-BE49-F238E27FC236}">
                <a16:creationId xmlns:a16="http://schemas.microsoft.com/office/drawing/2014/main" id="{DE558345-A2AD-6648-E462-DEADBDE641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Контейнер за вертикален текст 2">
            <a:extLst>
              <a:ext uri="{FF2B5EF4-FFF2-40B4-BE49-F238E27FC236}">
                <a16:creationId xmlns:a16="http://schemas.microsoft.com/office/drawing/2014/main" id="{8C9AE0B6-D592-FEB0-2EBD-5BCED34DA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F8C99047-CB24-2684-D483-D8B45CBC6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F7618-811E-4601-9A23-99B5D5C7A61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6F34B4A2-4701-66FF-39BF-48CECE9F8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9FF431FF-4455-4E1E-2DFF-F74CB1C2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6E633D-AEEA-43FF-9ED5-6ABBFD9D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11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>
            <a:extLst>
              <a:ext uri="{FF2B5EF4-FFF2-40B4-BE49-F238E27FC236}">
                <a16:creationId xmlns:a16="http://schemas.microsoft.com/office/drawing/2014/main" id="{FDDDD3F5-2607-71E1-8AA8-15EA765E3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Текстов контейнер 2">
            <a:extLst>
              <a:ext uri="{FF2B5EF4-FFF2-40B4-BE49-F238E27FC236}">
                <a16:creationId xmlns:a16="http://schemas.microsoft.com/office/drawing/2014/main" id="{1E919486-6ABD-B150-0482-830296798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Контейнер за дата 3">
            <a:extLst>
              <a:ext uri="{FF2B5EF4-FFF2-40B4-BE49-F238E27FC236}">
                <a16:creationId xmlns:a16="http://schemas.microsoft.com/office/drawing/2014/main" id="{9D69ABA1-2B5E-9BD1-8077-3B2F7EF839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F7618-811E-4601-9A23-99B5D5C7A61F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Контейнер за долния колонтитул 4">
            <a:extLst>
              <a:ext uri="{FF2B5EF4-FFF2-40B4-BE49-F238E27FC236}">
                <a16:creationId xmlns:a16="http://schemas.microsoft.com/office/drawing/2014/main" id="{2FAC8112-722C-078E-FE19-6B0ED366C7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Контейнер за номер на слайда 5">
            <a:extLst>
              <a:ext uri="{FF2B5EF4-FFF2-40B4-BE49-F238E27FC236}">
                <a16:creationId xmlns:a16="http://schemas.microsoft.com/office/drawing/2014/main" id="{A100465E-FB96-FB07-9DE0-5697BEF170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6E633D-AEEA-43FF-9ED5-6ABBFD9D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607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DD1B9F9-2413-2E69-E07F-EEB93ED1D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383528"/>
            <a:ext cx="5925989" cy="3167510"/>
          </a:xfrm>
        </p:spPr>
        <p:txBody>
          <a:bodyPr anchor="b">
            <a:normAutofit/>
          </a:bodyPr>
          <a:lstStyle/>
          <a:p>
            <a:pPr algn="r"/>
            <a:r>
              <a:rPr lang="en-US" sz="9600">
                <a:solidFill>
                  <a:srgbClr val="00B0F0"/>
                </a:solidFill>
                <a:latin typeface="Agency FB" panose="020B0503020202020204" pitchFamily="34" charset="0"/>
              </a:rPr>
              <a:t>ToDo List System</a:t>
            </a: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CB9590F5-B7F3-780B-9461-37122D4C1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1" y="4582814"/>
            <a:ext cx="5925987" cy="1312657"/>
          </a:xfrm>
        </p:spPr>
        <p:txBody>
          <a:bodyPr anchor="t">
            <a:normAutofit/>
          </a:bodyPr>
          <a:lstStyle/>
          <a:p>
            <a:pPr algn="r"/>
            <a:r>
              <a:rPr lang="en-US">
                <a:solidFill>
                  <a:srgbClr val="00B0F0"/>
                </a:solidFill>
                <a:latin typeface="Agency FB" panose="020B0503020202020204" pitchFamily="34" charset="0"/>
              </a:rPr>
              <a:t>A site made by</a:t>
            </a:r>
            <a:r>
              <a:rPr lang="en-US">
                <a:solidFill>
                  <a:srgbClr val="FF0000"/>
                </a:solidFill>
                <a:latin typeface="Agency FB" panose="020B0503020202020204" pitchFamily="34" charset="0"/>
              </a:rPr>
              <a:t> Valentin</a:t>
            </a:r>
            <a:r>
              <a:rPr lang="en-US">
                <a:latin typeface="Agency FB" panose="020B0503020202020204" pitchFamily="34" charset="0"/>
              </a:rPr>
              <a:t>, </a:t>
            </a:r>
            <a:r>
              <a:rPr lang="en-US">
                <a:solidFill>
                  <a:schemeClr val="accent1"/>
                </a:solidFill>
                <a:latin typeface="Agency FB" panose="020B0503020202020204" pitchFamily="34" charset="0"/>
              </a:rPr>
              <a:t>Georgi Popov</a:t>
            </a:r>
            <a:r>
              <a:rPr lang="en-US">
                <a:latin typeface="Agency FB" panose="020B0503020202020204" pitchFamily="34" charset="0"/>
              </a:rPr>
              <a:t>, </a:t>
            </a:r>
            <a:r>
              <a:rPr lang="en-US">
                <a:solidFill>
                  <a:schemeClr val="accent2"/>
                </a:solidFill>
                <a:latin typeface="Agency FB" panose="020B0503020202020204" pitchFamily="34" charset="0"/>
              </a:rPr>
              <a:t>Alexander Semerjiev </a:t>
            </a:r>
            <a:r>
              <a:rPr lang="en-US">
                <a:solidFill>
                  <a:srgbClr val="00B0F0"/>
                </a:solidFill>
                <a:latin typeface="Agency FB" panose="020B0503020202020204" pitchFamily="34" charset="0"/>
              </a:rPr>
              <a:t>and </a:t>
            </a:r>
            <a:r>
              <a:rPr lang="en-US">
                <a:solidFill>
                  <a:schemeClr val="accent6"/>
                </a:solidFill>
                <a:latin typeface="Agency FB" panose="020B0503020202020204" pitchFamily="34" charset="0"/>
              </a:rPr>
              <a:t>Darin Kolev</a:t>
            </a:r>
          </a:p>
        </p:txBody>
      </p:sp>
      <p:pic>
        <p:nvPicPr>
          <p:cNvPr id="7" name="Graphic 6" descr="Контролен списък">
            <a:extLst>
              <a:ext uri="{FF2B5EF4-FFF2-40B4-BE49-F238E27FC236}">
                <a16:creationId xmlns:a16="http://schemas.microsoft.com/office/drawing/2014/main" id="{0FC44244-A85F-A85B-31EF-9C067A6D47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9140" y="2209474"/>
            <a:ext cx="2489416" cy="24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05857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B7960732-B4B9-99B5-BF76-526305CDD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58" y="391741"/>
            <a:ext cx="7531893" cy="5786809"/>
          </a:xfrm>
          <a:prstGeom prst="rect">
            <a:avLst/>
          </a:prstGeom>
        </p:spPr>
      </p:pic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BEDD6C7-985A-CB7E-9B7B-DAF4B4931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1909" y="1089565"/>
            <a:ext cx="3197660" cy="20781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rgbClr val="00B0F0"/>
                </a:solidFill>
                <a:latin typeface="Agency FB" panose="020B0503020202020204" pitchFamily="34" charset="0"/>
              </a:rPr>
              <a:t>What is it?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FAAD512D-740A-82DA-0241-DD362142C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0985" y="3033184"/>
            <a:ext cx="2705619" cy="1940394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kern="1200">
                <a:solidFill>
                  <a:srgbClr val="00B0F0"/>
                </a:solidFill>
                <a:latin typeface="Agency FB" panose="020B0503020202020204" pitchFamily="34" charset="0"/>
              </a:rPr>
              <a:t>The ToDo List site is a system handfully crafted to allow the creation and management of tasks</a:t>
            </a:r>
            <a:r>
              <a:rPr lang="en-US">
                <a:solidFill>
                  <a:srgbClr val="00B0F0"/>
                </a:solidFill>
              </a:rPr>
              <a:t> </a:t>
            </a:r>
            <a:r>
              <a:rPr lang="en-US">
                <a:solidFill>
                  <a:srgbClr val="00B0F0"/>
                </a:solidFill>
                <a:latin typeface="Agency FB" panose="020B0503020202020204" pitchFamily="34" charset="0"/>
              </a:rPr>
              <a:t>by logged users.</a:t>
            </a:r>
            <a:endParaRPr lang="en-US" kern="1200">
              <a:solidFill>
                <a:srgbClr val="00B0F0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4931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937BB1E-FD30-CEF4-9688-89AFBBEFB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>
                <a:solidFill>
                  <a:srgbClr val="00B0F0"/>
                </a:solidFill>
                <a:latin typeface="Agency FB" panose="020B0503020202020204" pitchFamily="34" charset="0"/>
              </a:rPr>
              <a:t>Features:</a:t>
            </a:r>
          </a:p>
        </p:txBody>
      </p:sp>
      <p:sp>
        <p:nvSpPr>
          <p:cNvPr id="6" name="Текстово поле 5">
            <a:extLst>
              <a:ext uri="{FF2B5EF4-FFF2-40B4-BE49-F238E27FC236}">
                <a16:creationId xmlns:a16="http://schemas.microsoft.com/office/drawing/2014/main" id="{004F6D12-3863-CFA6-724C-68107C6F0B66}"/>
              </a:ext>
            </a:extLst>
          </p:cNvPr>
          <p:cNvSpPr txBox="1"/>
          <p:nvPr/>
        </p:nvSpPr>
        <p:spPr>
          <a:xfrm>
            <a:off x="711200" y="4620359"/>
            <a:ext cx="346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7" name="Текстово поле 6">
            <a:extLst>
              <a:ext uri="{FF2B5EF4-FFF2-40B4-BE49-F238E27FC236}">
                <a16:creationId xmlns:a16="http://schemas.microsoft.com/office/drawing/2014/main" id="{21DD5E73-4467-2B42-1B9C-34F3A87CECC9}"/>
              </a:ext>
            </a:extLst>
          </p:cNvPr>
          <p:cNvSpPr txBox="1"/>
          <p:nvPr/>
        </p:nvSpPr>
        <p:spPr>
          <a:xfrm>
            <a:off x="6480174" y="1500188"/>
            <a:ext cx="49720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rgbClr val="00B0F0"/>
                </a:solidFill>
                <a:latin typeface="Agency FB" panose="020B0503020202020204" pitchFamily="34" charset="0"/>
              </a:rPr>
              <a:t>Daily dashboard:</a:t>
            </a:r>
          </a:p>
          <a:p>
            <a:r>
              <a:rPr lang="en-US" sz="2400">
                <a:solidFill>
                  <a:srgbClr val="00B0F0"/>
                </a:solidFill>
                <a:latin typeface="Agency FB" panose="020B0503020202020204" pitchFamily="34" charset="0"/>
              </a:rPr>
              <a:t>Includes working quick tasks, timer, pedometer, hydration tracker and more</a:t>
            </a:r>
          </a:p>
        </p:txBody>
      </p:sp>
      <p:pic>
        <p:nvPicPr>
          <p:cNvPr id="10" name="Картина 9">
            <a:extLst>
              <a:ext uri="{FF2B5EF4-FFF2-40B4-BE49-F238E27FC236}">
                <a16:creationId xmlns:a16="http://schemas.microsoft.com/office/drawing/2014/main" id="{E36F1453-B95F-5502-35E9-256A728F7C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0" y="2827612"/>
            <a:ext cx="5000312" cy="3166788"/>
          </a:xfrm>
          <a:prstGeom prst="rect">
            <a:avLst/>
          </a:prstGeom>
        </p:spPr>
      </p:pic>
      <p:sp>
        <p:nvSpPr>
          <p:cNvPr id="11" name="Текстово поле 10">
            <a:extLst>
              <a:ext uri="{FF2B5EF4-FFF2-40B4-BE49-F238E27FC236}">
                <a16:creationId xmlns:a16="http://schemas.microsoft.com/office/drawing/2014/main" id="{C20FF403-ECAE-1834-3104-AD8D370D4741}"/>
              </a:ext>
            </a:extLst>
          </p:cNvPr>
          <p:cNvSpPr txBox="1"/>
          <p:nvPr/>
        </p:nvSpPr>
        <p:spPr>
          <a:xfrm>
            <a:off x="711200" y="1438646"/>
            <a:ext cx="429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 </a:t>
            </a:r>
            <a:r>
              <a:rPr lang="en-US" sz="2400">
                <a:solidFill>
                  <a:srgbClr val="00B0F0"/>
                </a:solidFill>
                <a:latin typeface="Agency FB" panose="020B0503020202020204" pitchFamily="34" charset="0"/>
              </a:rPr>
              <a:t>Task creation:</a:t>
            </a:r>
          </a:p>
          <a:p>
            <a:r>
              <a:rPr lang="en-US" sz="2400">
                <a:solidFill>
                  <a:srgbClr val="00B0F0"/>
                </a:solidFill>
                <a:latin typeface="Agency FB" panose="020B0503020202020204" pitchFamily="34" charset="0"/>
              </a:rPr>
              <a:t>Editing, deleting, reviewing and creating toggleable notes connected to User Ids</a:t>
            </a:r>
          </a:p>
        </p:txBody>
      </p:sp>
      <p:pic>
        <p:nvPicPr>
          <p:cNvPr id="13" name="Картина 12">
            <a:extLst>
              <a:ext uri="{FF2B5EF4-FFF2-40B4-BE49-F238E27FC236}">
                <a16:creationId xmlns:a16="http://schemas.microsoft.com/office/drawing/2014/main" id="{EB624600-86AE-E04B-40DA-3CAF92138A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173" y="2825751"/>
            <a:ext cx="5099050" cy="3166788"/>
          </a:xfrm>
          <a:prstGeom prst="rect">
            <a:avLst/>
          </a:prstGeom>
        </p:spPr>
      </p:pic>
      <p:sp>
        <p:nvSpPr>
          <p:cNvPr id="14" name="Правоъгълник 13">
            <a:extLst>
              <a:ext uri="{FF2B5EF4-FFF2-40B4-BE49-F238E27FC236}">
                <a16:creationId xmlns:a16="http://schemas.microsoft.com/office/drawing/2014/main" id="{53333A38-8C78-2118-0198-26EAFCC0346E}"/>
              </a:ext>
            </a:extLst>
          </p:cNvPr>
          <p:cNvSpPr/>
          <p:nvPr/>
        </p:nvSpPr>
        <p:spPr>
          <a:xfrm>
            <a:off x="1" y="6117774"/>
            <a:ext cx="12192000" cy="37510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21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19A41AF-7E7F-F4B5-CD0E-61786D757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4800">
                <a:solidFill>
                  <a:srgbClr val="00B0F0"/>
                </a:solidFill>
                <a:latin typeface="Agency FB" panose="020B0503020202020204" pitchFamily="34" charset="0"/>
              </a:rPr>
              <a:t>The backend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A2972E99-9448-9CD1-7709-1824F4FFE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783" y="2618479"/>
            <a:ext cx="4282984" cy="3511943"/>
          </a:xfrm>
        </p:spPr>
        <p:txBody>
          <a:bodyPr anchor="ctr">
            <a:normAutofit lnSpcReduction="10000"/>
          </a:bodyPr>
          <a:lstStyle/>
          <a:p>
            <a:r>
              <a:rPr lang="en-US">
                <a:solidFill>
                  <a:srgbClr val="00B0F0"/>
                </a:solidFill>
                <a:latin typeface="Agency FB" panose="020B0503020202020204" pitchFamily="34" charset="0"/>
              </a:rPr>
              <a:t>The backend is structured alike an MVC model, possessing separate sections for the system’s </a:t>
            </a:r>
            <a:r>
              <a:rPr lang="en-US">
                <a:solidFill>
                  <a:srgbClr val="0070C0"/>
                </a:solidFill>
                <a:latin typeface="Agency FB" panose="020B0503020202020204" pitchFamily="34" charset="0"/>
              </a:rPr>
              <a:t>views, </a:t>
            </a:r>
            <a:r>
              <a:rPr lang="en-US">
                <a:solidFill>
                  <a:srgbClr val="00B050"/>
                </a:solidFill>
                <a:latin typeface="Agency FB" panose="020B0503020202020204" pitchFamily="34" charset="0"/>
              </a:rPr>
              <a:t>models</a:t>
            </a:r>
            <a:r>
              <a:rPr lang="en-US">
                <a:solidFill>
                  <a:srgbClr val="00B0F0"/>
                </a:solidFill>
                <a:latin typeface="Agency FB" panose="020B0503020202020204" pitchFamily="34" charset="0"/>
              </a:rPr>
              <a:t>, </a:t>
            </a:r>
            <a:r>
              <a:rPr lang="en-US">
                <a:solidFill>
                  <a:srgbClr val="FFC000"/>
                </a:solidFill>
                <a:latin typeface="Agency FB" panose="020B0503020202020204" pitchFamily="34" charset="0"/>
              </a:rPr>
              <a:t>controllers </a:t>
            </a:r>
            <a:r>
              <a:rPr lang="en-US">
                <a:solidFill>
                  <a:srgbClr val="00B0F0"/>
                </a:solidFill>
                <a:latin typeface="Agency FB" panose="020B0503020202020204" pitchFamily="34" charset="0"/>
              </a:rPr>
              <a:t>and </a:t>
            </a:r>
            <a:r>
              <a:rPr lang="en-US">
                <a:solidFill>
                  <a:srgbClr val="7030A0"/>
                </a:solidFill>
                <a:latin typeface="Agency FB" panose="020B0503020202020204" pitchFamily="34" charset="0"/>
              </a:rPr>
              <a:t>database</a:t>
            </a:r>
            <a:r>
              <a:rPr lang="en-US">
                <a:solidFill>
                  <a:srgbClr val="00B0F0"/>
                </a:solidFill>
                <a:latin typeface="Agency FB" panose="020B0503020202020204" pitchFamily="34" charset="0"/>
              </a:rPr>
              <a:t>.</a:t>
            </a:r>
          </a:p>
          <a:p>
            <a:r>
              <a:rPr lang="en-US">
                <a:solidFill>
                  <a:schemeClr val="accent6"/>
                </a:solidFill>
                <a:latin typeface="Agency FB" panose="020B0503020202020204" pitchFamily="34" charset="0"/>
              </a:rPr>
              <a:t>Models </a:t>
            </a:r>
            <a:r>
              <a:rPr lang="en-US">
                <a:solidFill>
                  <a:schemeClr val="accent4"/>
                </a:solidFill>
                <a:latin typeface="Agency FB" panose="020B0503020202020204" pitchFamily="34" charset="0"/>
              </a:rPr>
              <a:t>initialize the data, drawing information from the</a:t>
            </a:r>
            <a:r>
              <a:rPr lang="en-US">
                <a:solidFill>
                  <a:srgbClr val="7030A0"/>
                </a:solidFill>
                <a:latin typeface="Agency FB" panose="020B0503020202020204" pitchFamily="34" charset="0"/>
              </a:rPr>
              <a:t> database </a:t>
            </a:r>
            <a:r>
              <a:rPr lang="en-US">
                <a:solidFill>
                  <a:schemeClr val="accent4"/>
                </a:solidFill>
                <a:latin typeface="Agency FB" panose="020B0503020202020204" pitchFamily="34" charset="0"/>
              </a:rPr>
              <a:t>+ user info. The </a:t>
            </a:r>
            <a:r>
              <a:rPr lang="en-US">
                <a:solidFill>
                  <a:srgbClr val="FFC000"/>
                </a:solidFill>
                <a:latin typeface="Agency FB" panose="020B0503020202020204" pitchFamily="34" charset="0"/>
              </a:rPr>
              <a:t>controller</a:t>
            </a:r>
            <a:r>
              <a:rPr lang="en-US">
                <a:solidFill>
                  <a:schemeClr val="accent4"/>
                </a:solidFill>
                <a:latin typeface="Agency FB" panose="020B0503020202020204" pitchFamily="34" charset="0"/>
              </a:rPr>
              <a:t> handles the functionalities and sends it all to what we see – the </a:t>
            </a:r>
            <a:r>
              <a:rPr lang="en-US">
                <a:solidFill>
                  <a:srgbClr val="0070C0"/>
                </a:solidFill>
                <a:latin typeface="Agency FB" panose="020B0503020202020204" pitchFamily="34" charset="0"/>
              </a:rPr>
              <a:t>view</a:t>
            </a:r>
            <a:r>
              <a:rPr lang="en-US">
                <a:solidFill>
                  <a:schemeClr val="accent4"/>
                </a:solidFill>
                <a:latin typeface="Agency FB" panose="020B0503020202020204" pitchFamily="34" charset="0"/>
              </a:rPr>
              <a:t>.</a:t>
            </a:r>
          </a:p>
          <a:p>
            <a:pPr marL="0" indent="0">
              <a:buNone/>
            </a:pPr>
            <a:endParaRPr lang="en-US" sz="1800">
              <a:latin typeface="Agency FB" panose="020B0503020202020204" pitchFamily="34" charset="0"/>
            </a:endParaRPr>
          </a:p>
          <a:p>
            <a:endParaRPr lang="en-US" sz="1800"/>
          </a:p>
          <a:p>
            <a:pPr marL="0" indent="0">
              <a:buNone/>
            </a:pPr>
            <a:endParaRPr lang="en-US" sz="18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D144F2BA-073A-25A7-5C96-A363725DC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845" y="650494"/>
            <a:ext cx="2629803" cy="532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8200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095C1F4-AE7F-44E4-8693-40D3D6831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-15978"/>
            <a:ext cx="7147352" cy="5876916"/>
            <a:chOff x="329184" y="-99107"/>
            <a:chExt cx="524256" cy="5876916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99107"/>
              <a:ext cx="524256" cy="563122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1055718"/>
            <a:ext cx="10999072" cy="33583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5A0CA55-D4DD-DB16-76C1-E00CA8122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84683"/>
            <a:ext cx="9144000" cy="25518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8800" kern="1200">
                <a:solidFill>
                  <a:srgbClr val="00B0F0"/>
                </a:solidFill>
                <a:latin typeface="Agency FB" panose="020B0503020202020204" pitchFamily="34" charset="0"/>
              </a:rPr>
              <a:t>Thanks for watching</a:t>
            </a:r>
          </a:p>
        </p:txBody>
      </p:sp>
    </p:spTree>
    <p:extLst>
      <p:ext uri="{BB962C8B-B14F-4D97-AF65-F5344CB8AC3E}">
        <p14:creationId xmlns:p14="http://schemas.microsoft.com/office/powerpoint/2010/main" val="265753553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</TotalTime>
  <Words>137</Words>
  <Application>Microsoft Office PowerPoint</Application>
  <PresentationFormat>Широк екран</PresentationFormat>
  <Paragraphs>15</Paragraphs>
  <Slides>5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5</vt:i4>
      </vt:variant>
    </vt:vector>
  </HeadingPairs>
  <TitlesOfParts>
    <vt:vector size="10" baseType="lpstr">
      <vt:lpstr>Agency FB</vt:lpstr>
      <vt:lpstr>Aptos</vt:lpstr>
      <vt:lpstr>Aptos Display</vt:lpstr>
      <vt:lpstr>Arial</vt:lpstr>
      <vt:lpstr>Тема на Office</vt:lpstr>
      <vt:lpstr>ToDo List System</vt:lpstr>
      <vt:lpstr>What is it?</vt:lpstr>
      <vt:lpstr>Features:</vt:lpstr>
      <vt:lpstr>The backend </vt:lpstr>
      <vt:lpstr>Thanks for watching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живко колев</dc:creator>
  <cp:lastModifiedBy>живко колев</cp:lastModifiedBy>
  <cp:revision>3</cp:revision>
  <dcterms:created xsi:type="dcterms:W3CDTF">2026-06-21T13:15:54Z</dcterms:created>
  <dcterms:modified xsi:type="dcterms:W3CDTF">2026-06-23T19:57:10Z</dcterms:modified>
</cp:coreProperties>
</file>